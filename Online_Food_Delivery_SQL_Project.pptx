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65" r:id="rId5"/>
    <p:sldId id="259" r:id="rId6"/>
    <p:sldId id="266" r:id="rId7"/>
    <p:sldId id="260" r:id="rId8"/>
    <p:sldId id="261" r:id="rId9"/>
    <p:sldId id="262" r:id="rId10"/>
    <p:sldId id="267" r:id="rId11"/>
    <p:sldId id="263" r:id="rId12"/>
    <p:sldId id="268" r:id="rId13"/>
    <p:sldId id="264"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4"/>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660"/>
  </p:normalViewPr>
  <p:slideViewPr>
    <p:cSldViewPr snapToGrid="0" snapToObjects="1">
      <p:cViewPr varScale="1">
        <p:scale>
          <a:sx n="78" d="100"/>
          <a:sy n="78" d="100"/>
        </p:scale>
        <p:origin x="185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52612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6808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8461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88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821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1390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975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0530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032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546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954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617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04489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775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3409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7251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0083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2/22/2026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0373097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Online Food Delivery - SQL Data Analysis Project</a:t>
            </a:r>
          </a:p>
        </p:txBody>
      </p:sp>
      <p:sp>
        <p:nvSpPr>
          <p:cNvPr id="3" name="Subtitle 2"/>
          <p:cNvSpPr>
            <a:spLocks noGrp="1"/>
          </p:cNvSpPr>
          <p:nvPr>
            <p:ph type="subTitle" idx="1"/>
          </p:nvPr>
        </p:nvSpPr>
        <p:spPr/>
        <p:txBody>
          <a:bodyPr/>
          <a:lstStyle/>
          <a:p>
            <a:r>
              <a:t>A_RealLife_Data_Analyst_Case_Study</a:t>
            </a:r>
          </a:p>
          <a:p>
            <a:r>
              <a:t>Prepared By: SANJYOT SANJAY TEKALE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142568"/>
            <a:ext cx="7704667" cy="894736"/>
          </a:xfrm>
        </p:spPr>
        <p:txBody>
          <a:bodyPr/>
          <a:lstStyle/>
          <a:p>
            <a:r>
              <a:rPr b="1" dirty="0"/>
              <a:t>Introduction</a:t>
            </a:r>
          </a:p>
        </p:txBody>
      </p:sp>
      <p:sp>
        <p:nvSpPr>
          <p:cNvPr id="3" name="Content Placeholder 2"/>
          <p:cNvSpPr>
            <a:spLocks noGrp="1"/>
          </p:cNvSpPr>
          <p:nvPr>
            <p:ph idx="1"/>
          </p:nvPr>
        </p:nvSpPr>
        <p:spPr>
          <a:xfrm>
            <a:off x="982133" y="1037305"/>
            <a:ext cx="7704667" cy="4783392"/>
          </a:xfrm>
        </p:spPr>
        <p:txBody>
          <a:bodyPr>
            <a:normAutofit fontScale="92500" lnSpcReduction="10000"/>
          </a:bodyPr>
          <a:lstStyle/>
          <a:p>
            <a:r>
              <a:rPr lang="en-US" dirty="0"/>
              <a:t>As a data analyst, one of the most intriguing aspects of my job is uncovering insights about customer behavior through database analysis. Recently, I had the opportunity to work on a Case Study that involved analyzing multiple tables in a database to gain a better understanding of customer behavior for a popular online retailer.</a:t>
            </a:r>
          </a:p>
          <a:p>
            <a:r>
              <a:rPr lang="en-US" dirty="0"/>
              <a:t>The database consisted of five tables: Sales, Product, </a:t>
            </a:r>
            <a:r>
              <a:rPr lang="en-US" dirty="0" err="1"/>
              <a:t>Goldusers_Signup</a:t>
            </a:r>
            <a:r>
              <a:rPr lang="en-US" dirty="0"/>
              <a:t>, Users, and </a:t>
            </a:r>
            <a:r>
              <a:rPr lang="en-US" dirty="0" err="1"/>
              <a:t>User_name</a:t>
            </a:r>
            <a:r>
              <a:rPr lang="en-US" dirty="0"/>
              <a:t>. Each table contained unique information about the customers and products sold on the website.</a:t>
            </a:r>
          </a:p>
          <a:p>
            <a:r>
              <a:rPr dirty="0"/>
              <a:t>SQL-based analysis of customer &amp; sales data</a:t>
            </a:r>
          </a:p>
          <a:p>
            <a:r>
              <a:rPr dirty="0"/>
              <a:t>Focus on revenue trends and Gold membership impact</a:t>
            </a:r>
          </a:p>
          <a:p>
            <a:r>
              <a:rPr dirty="0"/>
              <a:t>Objective: Data-driven business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Methodologies</a:t>
            </a:r>
          </a:p>
        </p:txBody>
      </p:sp>
      <p:sp>
        <p:nvSpPr>
          <p:cNvPr id="3" name="Content Placeholder 2"/>
          <p:cNvSpPr>
            <a:spLocks noGrp="1"/>
          </p:cNvSpPr>
          <p:nvPr>
            <p:ph idx="1"/>
          </p:nvPr>
        </p:nvSpPr>
        <p:spPr/>
        <p:txBody>
          <a:bodyPr/>
          <a:lstStyle/>
          <a:p>
            <a:r>
              <a:rPr dirty="0"/>
              <a:t>Joins (INNER, LEFT)</a:t>
            </a:r>
          </a:p>
          <a:p>
            <a:r>
              <a:rPr dirty="0"/>
              <a:t>Aggregations (SUM, COUNT, AVG)</a:t>
            </a:r>
          </a:p>
          <a:p>
            <a:r>
              <a:rPr dirty="0"/>
              <a:t>Window Functions (ROW_NUMBER, RANK, LAG)</a:t>
            </a:r>
          </a:p>
          <a:p>
            <a:r>
              <a:rPr dirty="0"/>
              <a:t>Date Functions (YEAR, DATEDIFF)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8FF49C-5680-3378-656A-50C4A617A53A}"/>
              </a:ext>
            </a:extLst>
          </p:cNvPr>
          <p:cNvSpPr>
            <a:spLocks noGrp="1"/>
          </p:cNvSpPr>
          <p:nvPr>
            <p:ph idx="1"/>
          </p:nvPr>
        </p:nvSpPr>
        <p:spPr>
          <a:xfrm>
            <a:off x="982133" y="462116"/>
            <a:ext cx="7704667" cy="5547532"/>
          </a:xfrm>
        </p:spPr>
        <p:txBody>
          <a:bodyPr>
            <a:normAutofit fontScale="92500" lnSpcReduction="10000"/>
          </a:bodyPr>
          <a:lstStyle/>
          <a:p>
            <a:r>
              <a:rPr lang="en-US" b="1" dirty="0"/>
              <a:t>Aggregation Functions</a:t>
            </a:r>
          </a:p>
          <a:p>
            <a:r>
              <a:rPr lang="en-US" dirty="0"/>
              <a:t>SUM() → Total revenue calculation</a:t>
            </a:r>
          </a:p>
          <a:p>
            <a:r>
              <a:rPr lang="en-US" dirty="0"/>
              <a:t>COUNT() → Total orders and frequency analysis</a:t>
            </a:r>
          </a:p>
          <a:p>
            <a:r>
              <a:rPr lang="en-US" dirty="0"/>
              <a:t>AVG() → Average spending and membership analysis</a:t>
            </a:r>
          </a:p>
          <a:p>
            <a:r>
              <a:rPr lang="en-US" dirty="0"/>
              <a:t>GROUP BY → Product-wise and year-wise breakdown</a:t>
            </a:r>
          </a:p>
          <a:p>
            <a:r>
              <a:rPr lang="en-IN" b="1" dirty="0"/>
              <a:t>Window Functions</a:t>
            </a:r>
          </a:p>
          <a:p>
            <a:pPr marL="0" indent="0">
              <a:buNone/>
            </a:pPr>
            <a:r>
              <a:rPr lang="en-IN" dirty="0"/>
              <a:t>Used advanced analytical functions for ranking and trend comparison:</a:t>
            </a:r>
          </a:p>
          <a:p>
            <a:r>
              <a:rPr lang="en-IN" dirty="0"/>
              <a:t>RANK() → Ranking transactions during Gold membership</a:t>
            </a:r>
          </a:p>
          <a:p>
            <a:r>
              <a:rPr lang="en-IN" dirty="0"/>
              <a:t>ROW_NUMBER() → Identifying first purchase</a:t>
            </a:r>
          </a:p>
          <a:p>
            <a:r>
              <a:rPr lang="en-IN" dirty="0"/>
              <a:t>LAG() → Calculating year-over-year revenue change</a:t>
            </a:r>
          </a:p>
          <a:p>
            <a:r>
              <a:rPr lang="en-IN" dirty="0"/>
              <a:t>PARTITION BY → User-level transaction analysis</a:t>
            </a:r>
          </a:p>
          <a:p>
            <a:endParaRPr lang="en-IN" dirty="0"/>
          </a:p>
        </p:txBody>
      </p:sp>
    </p:spTree>
    <p:extLst>
      <p:ext uri="{BB962C8B-B14F-4D97-AF65-F5344CB8AC3E}">
        <p14:creationId xmlns:p14="http://schemas.microsoft.com/office/powerpoint/2010/main" val="51530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39995"/>
            <a:ext cx="7704667" cy="1182328"/>
          </a:xfrm>
        </p:spPr>
        <p:txBody>
          <a:bodyPr/>
          <a:lstStyle/>
          <a:p>
            <a:r>
              <a:rPr b="1" dirty="0"/>
              <a:t>Key Findings</a:t>
            </a:r>
          </a:p>
        </p:txBody>
      </p:sp>
      <p:sp>
        <p:nvSpPr>
          <p:cNvPr id="3" name="Content Placeholder 2"/>
          <p:cNvSpPr>
            <a:spLocks noGrp="1"/>
          </p:cNvSpPr>
          <p:nvPr>
            <p:ph idx="1"/>
          </p:nvPr>
        </p:nvSpPr>
        <p:spPr>
          <a:xfrm>
            <a:off x="982133" y="1622323"/>
            <a:ext cx="7704667" cy="4377493"/>
          </a:xfrm>
        </p:spPr>
        <p:txBody>
          <a:bodyPr/>
          <a:lstStyle/>
          <a:p>
            <a:r>
              <a:rPr dirty="0"/>
              <a:t>Total Revenue: ₹7220</a:t>
            </a:r>
          </a:p>
          <a:p>
            <a:r>
              <a:rPr dirty="0"/>
              <a:t>Butter Chicken highest revenue item</a:t>
            </a:r>
          </a:p>
          <a:p>
            <a:r>
              <a:rPr dirty="0"/>
              <a:t>100% Gold membership adoption</a:t>
            </a:r>
          </a:p>
          <a:p>
            <a:r>
              <a:rPr dirty="0"/>
              <a:t>High-frequency users drive major revenue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1DF54-528E-91E6-9A36-CC3C9E42DCD9}"/>
              </a:ext>
            </a:extLst>
          </p:cNvPr>
          <p:cNvSpPr>
            <a:spLocks noGrp="1"/>
          </p:cNvSpPr>
          <p:nvPr>
            <p:ph idx="1"/>
          </p:nvPr>
        </p:nvSpPr>
        <p:spPr>
          <a:xfrm>
            <a:off x="1060791" y="532330"/>
            <a:ext cx="7704667" cy="5793339"/>
          </a:xfrm>
        </p:spPr>
        <p:txBody>
          <a:bodyPr>
            <a:normAutofit fontScale="85000" lnSpcReduction="10000"/>
          </a:bodyPr>
          <a:lstStyle/>
          <a:p>
            <a:r>
              <a:rPr lang="en-IN" b="1" dirty="0"/>
              <a:t>Gold Membership Adoption:</a:t>
            </a:r>
          </a:p>
          <a:p>
            <a:r>
              <a:rPr lang="en-US" b="1" dirty="0"/>
              <a:t>Butter Chicken</a:t>
            </a:r>
            <a:r>
              <a:rPr lang="en-US" dirty="0"/>
              <a:t> generated the highest revenue among all menu items.</a:t>
            </a:r>
          </a:p>
          <a:p>
            <a:r>
              <a:rPr lang="en-US" dirty="0"/>
              <a:t>Premium items such as </a:t>
            </a:r>
            <a:r>
              <a:rPr lang="en-US" b="1" dirty="0"/>
              <a:t>Mutton Biryani</a:t>
            </a:r>
            <a:r>
              <a:rPr lang="en-US" dirty="0"/>
              <a:t> and </a:t>
            </a:r>
            <a:r>
              <a:rPr lang="en-US" b="1" dirty="0"/>
              <a:t>Fish Curry</a:t>
            </a:r>
            <a:r>
              <a:rPr lang="en-US" dirty="0"/>
              <a:t> also contributed strong revenue despite fewer purchases.</a:t>
            </a:r>
          </a:p>
          <a:p>
            <a:r>
              <a:rPr lang="en-US" dirty="0"/>
              <a:t>Low-priced items like </a:t>
            </a:r>
            <a:r>
              <a:rPr lang="en-US" b="1" dirty="0"/>
              <a:t>Chole </a:t>
            </a:r>
            <a:r>
              <a:rPr lang="en-US" b="1" dirty="0" err="1"/>
              <a:t>Bhature</a:t>
            </a:r>
            <a:r>
              <a:rPr lang="en-US" dirty="0"/>
              <a:t> had higher frequency but lower overall revenue contribution.</a:t>
            </a:r>
          </a:p>
          <a:p>
            <a:r>
              <a:rPr lang="en-US" dirty="0"/>
              <a:t> Insight: High-priced items significantly influence revenue growth.</a:t>
            </a:r>
          </a:p>
          <a:p>
            <a:r>
              <a:rPr lang="en-US" b="1" dirty="0"/>
              <a:t>Gold vs Non-Gold Spending Behavior:</a:t>
            </a:r>
          </a:p>
          <a:p>
            <a:r>
              <a:rPr lang="en-US" dirty="0"/>
              <a:t>Customers tend to increase their order frequency after becoming Gold members.</a:t>
            </a:r>
          </a:p>
          <a:p>
            <a:r>
              <a:rPr lang="en-US" dirty="0"/>
              <a:t>Post-membership transactions show higher engagement levels.</a:t>
            </a:r>
          </a:p>
          <a:p>
            <a:r>
              <a:rPr lang="en-US" dirty="0"/>
              <a:t>Gold members contribute a major portion of total revenue.</a:t>
            </a:r>
          </a:p>
          <a:p>
            <a:r>
              <a:rPr lang="en-US" dirty="0"/>
              <a:t>👉 Insight: Gold membership increases customer lifetime value (CLV).</a:t>
            </a:r>
          </a:p>
          <a:p>
            <a:endParaRPr lang="en-US" dirty="0"/>
          </a:p>
        </p:txBody>
      </p:sp>
    </p:spTree>
    <p:extLst>
      <p:ext uri="{BB962C8B-B14F-4D97-AF65-F5344CB8AC3E}">
        <p14:creationId xmlns:p14="http://schemas.microsoft.com/office/powerpoint/2010/main" val="268165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Yearly Revenue Trend</a:t>
            </a:r>
          </a:p>
        </p:txBody>
      </p:sp>
      <p:pic>
        <p:nvPicPr>
          <p:cNvPr id="3" name="Picture 2" descr="chart1.png"/>
          <p:cNvPicPr>
            <a:picLocks noChangeAspect="1"/>
          </p:cNvPicPr>
          <p:nvPr/>
        </p:nvPicPr>
        <p:blipFill>
          <a:blip r:embed="rId2"/>
          <a:stretch>
            <a:fillRect/>
          </a:stretch>
        </p:blipFill>
        <p:spPr>
          <a:xfrm>
            <a:off x="2474724" y="1892710"/>
            <a:ext cx="48768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Top 3 Products by Revenue</a:t>
            </a:r>
          </a:p>
        </p:txBody>
      </p:sp>
      <p:pic>
        <p:nvPicPr>
          <p:cNvPr id="3" name="Picture 2" descr="chart2.png"/>
          <p:cNvPicPr>
            <a:picLocks noChangeAspect="1"/>
          </p:cNvPicPr>
          <p:nvPr/>
        </p:nvPicPr>
        <p:blipFill>
          <a:blip r:embed="rId2"/>
          <a:stretch>
            <a:fillRect/>
          </a:stretch>
        </p:blipFill>
        <p:spPr>
          <a:xfrm>
            <a:off x="2396066" y="2000865"/>
            <a:ext cx="48768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Actionable Recommendations</a:t>
            </a:r>
          </a:p>
        </p:txBody>
      </p:sp>
      <p:sp>
        <p:nvSpPr>
          <p:cNvPr id="3" name="Content Placeholder 2"/>
          <p:cNvSpPr>
            <a:spLocks noGrp="1"/>
          </p:cNvSpPr>
          <p:nvPr>
            <p:ph idx="1"/>
          </p:nvPr>
        </p:nvSpPr>
        <p:spPr>
          <a:xfrm>
            <a:off x="1109953" y="2438401"/>
            <a:ext cx="7704667" cy="3332816"/>
          </a:xfrm>
        </p:spPr>
        <p:txBody>
          <a:bodyPr/>
          <a:lstStyle/>
          <a:p>
            <a:r>
              <a:rPr dirty="0"/>
              <a:t>Promote top-performing menu items</a:t>
            </a:r>
          </a:p>
          <a:p>
            <a:r>
              <a:rPr dirty="0"/>
              <a:t>Offer personalized loyalty rewards</a:t>
            </a:r>
          </a:p>
          <a:p>
            <a:r>
              <a:rPr dirty="0"/>
              <a:t>Target high-spending customers</a:t>
            </a:r>
          </a:p>
          <a:p>
            <a:r>
              <a:rPr dirty="0"/>
              <a:t>Improve engagement strategies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72EF2A-644F-5203-003B-30B9BF9BCA8A}"/>
              </a:ext>
            </a:extLst>
          </p:cNvPr>
          <p:cNvSpPr>
            <a:spLocks noGrp="1"/>
          </p:cNvSpPr>
          <p:nvPr>
            <p:ph idx="1"/>
          </p:nvPr>
        </p:nvSpPr>
        <p:spPr>
          <a:xfrm>
            <a:off x="982133" y="353961"/>
            <a:ext cx="7704667" cy="5645855"/>
          </a:xfrm>
        </p:spPr>
        <p:txBody>
          <a:bodyPr/>
          <a:lstStyle/>
          <a:p>
            <a:r>
              <a:rPr lang="en-US" b="1" dirty="0"/>
              <a:t>Strengthen the Gold Membership Program:</a:t>
            </a:r>
          </a:p>
          <a:p>
            <a:r>
              <a:rPr lang="en-US" b="1" dirty="0"/>
              <a:t>Recommendation : </a:t>
            </a:r>
            <a:r>
              <a:rPr lang="en-US" dirty="0"/>
              <a:t>Enhance the Gold membership benefits with exclusive discounts , early access offers, and reward points.</a:t>
            </a:r>
          </a:p>
          <a:p>
            <a:r>
              <a:rPr lang="en-US" b="1" dirty="0"/>
              <a:t>Why?: </a:t>
            </a:r>
            <a:r>
              <a:rPr lang="en-US" dirty="0"/>
              <a:t>Gold members show higher engagement and revenue contribution.</a:t>
            </a:r>
          </a:p>
          <a:p>
            <a:r>
              <a:rPr lang="en-US" b="1" dirty="0"/>
              <a:t>Action Steps: </a:t>
            </a:r>
            <a:r>
              <a:rPr lang="en-US" dirty="0"/>
              <a:t>Offer bonus reward points on premium items.</a:t>
            </a:r>
          </a:p>
          <a:p>
            <a:r>
              <a:rPr lang="en-US" dirty="0"/>
              <a:t>Provide birthday or anniversary special offers.</a:t>
            </a:r>
          </a:p>
          <a:p>
            <a:r>
              <a:rPr lang="en-US" b="1" dirty="0"/>
              <a:t>Expected Impact : </a:t>
            </a:r>
            <a:r>
              <a:rPr lang="en-US" dirty="0"/>
              <a:t>Increased customer retention and higher lifetime value </a:t>
            </a:r>
            <a:endParaRPr lang="en-US" b="1" dirty="0"/>
          </a:p>
          <a:p>
            <a:endParaRPr lang="en-US" b="1" dirty="0"/>
          </a:p>
          <a:p>
            <a:endParaRPr lang="en-IN" dirty="0"/>
          </a:p>
        </p:txBody>
      </p:sp>
    </p:spTree>
    <p:extLst>
      <p:ext uri="{BB962C8B-B14F-4D97-AF65-F5344CB8AC3E}">
        <p14:creationId xmlns:p14="http://schemas.microsoft.com/office/powerpoint/2010/main" val="778832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127819"/>
            <a:ext cx="7704667" cy="1553498"/>
          </a:xfrm>
        </p:spPr>
        <p:txBody>
          <a:bodyPr/>
          <a:lstStyle/>
          <a:p>
            <a:r>
              <a:rPr b="1" dirty="0"/>
              <a:t>Business Insights</a:t>
            </a:r>
          </a:p>
        </p:txBody>
      </p:sp>
      <p:sp>
        <p:nvSpPr>
          <p:cNvPr id="3" name="Content Placeholder 2"/>
          <p:cNvSpPr>
            <a:spLocks noGrp="1"/>
          </p:cNvSpPr>
          <p:nvPr>
            <p:ph idx="1"/>
          </p:nvPr>
        </p:nvSpPr>
        <p:spPr>
          <a:xfrm>
            <a:off x="982133" y="1762592"/>
            <a:ext cx="7704667" cy="3332816"/>
          </a:xfrm>
        </p:spPr>
        <p:txBody>
          <a:bodyPr/>
          <a:lstStyle/>
          <a:p>
            <a:r>
              <a:rPr dirty="0"/>
              <a:t>Gold membership increases engagement</a:t>
            </a:r>
          </a:p>
          <a:p>
            <a:r>
              <a:rPr dirty="0"/>
              <a:t>Revenue trends help forecasting</a:t>
            </a:r>
          </a:p>
          <a:p>
            <a:r>
              <a:rPr dirty="0"/>
              <a:t>Data supports strategic marketing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D8F3E9-5EFC-E977-73F9-5B3AACAFC2C7}"/>
              </a:ext>
            </a:extLst>
          </p:cNvPr>
          <p:cNvSpPr>
            <a:spLocks noGrp="1"/>
          </p:cNvSpPr>
          <p:nvPr>
            <p:ph idx="1"/>
          </p:nvPr>
        </p:nvSpPr>
        <p:spPr>
          <a:xfrm>
            <a:off x="982133" y="403123"/>
            <a:ext cx="7704667" cy="5596693"/>
          </a:xfrm>
        </p:spPr>
        <p:txBody>
          <a:bodyPr/>
          <a:lstStyle/>
          <a:p>
            <a:r>
              <a:rPr lang="en-US" b="1" dirty="0"/>
              <a:t>A Small Segment of Customers Generates Major Revenue: </a:t>
            </a:r>
            <a:r>
              <a:rPr lang="en-US" dirty="0"/>
              <a:t>Analysis shows that a limited number of customers contribute a significant portion of overall revenue  through repeat purchases.</a:t>
            </a:r>
          </a:p>
          <a:p>
            <a:r>
              <a:rPr lang="en-US" b="1" dirty="0"/>
              <a:t>Insight: </a:t>
            </a:r>
            <a:r>
              <a:rPr lang="en-US" dirty="0"/>
              <a:t>Customer segmentation is essential. </a:t>
            </a:r>
          </a:p>
          <a:p>
            <a:r>
              <a:rPr lang="en-US" dirty="0"/>
              <a:t>High-value customers should be prioritized with exclusive benefits.</a:t>
            </a:r>
          </a:p>
          <a:p>
            <a:r>
              <a:rPr lang="en-US" b="1" dirty="0"/>
              <a:t>Customer Preference Are Identifiable: </a:t>
            </a:r>
            <a:r>
              <a:rPr lang="en-US" dirty="0"/>
              <a:t>First purchase and most purchased item analysis reveal clear taste patterns among customers.</a:t>
            </a:r>
          </a:p>
          <a:p>
            <a:r>
              <a:rPr lang="en-US" b="1" dirty="0"/>
              <a:t>Insight: </a:t>
            </a:r>
            <a:r>
              <a:rPr lang="en-US" dirty="0"/>
              <a:t>Personalized recommendations can significantly improve conversion rates.</a:t>
            </a:r>
            <a:endParaRPr lang="en-IN" dirty="0"/>
          </a:p>
        </p:txBody>
      </p:sp>
    </p:spTree>
    <p:extLst>
      <p:ext uri="{BB962C8B-B14F-4D97-AF65-F5344CB8AC3E}">
        <p14:creationId xmlns:p14="http://schemas.microsoft.com/office/powerpoint/2010/main" val="1696822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181897"/>
            <a:ext cx="7704667" cy="752167"/>
          </a:xfrm>
        </p:spPr>
        <p:txBody>
          <a:bodyPr/>
          <a:lstStyle/>
          <a:p>
            <a:r>
              <a:rPr b="1" dirty="0"/>
              <a:t>Conclusion</a:t>
            </a:r>
          </a:p>
        </p:txBody>
      </p:sp>
      <p:sp>
        <p:nvSpPr>
          <p:cNvPr id="3" name="Content Placeholder 2"/>
          <p:cNvSpPr>
            <a:spLocks noGrp="1"/>
          </p:cNvSpPr>
          <p:nvPr>
            <p:ph idx="1"/>
          </p:nvPr>
        </p:nvSpPr>
        <p:spPr>
          <a:xfrm>
            <a:off x="982133" y="855406"/>
            <a:ext cx="7704667" cy="5250426"/>
          </a:xfrm>
        </p:spPr>
        <p:txBody>
          <a:bodyPr>
            <a:normAutofit fontScale="92500" lnSpcReduction="10000"/>
          </a:bodyPr>
          <a:lstStyle/>
          <a:p>
            <a:r>
              <a:rPr lang="en-US" dirty="0"/>
              <a:t>In conclusion, my Case Study on online delivery using SQL has successfully addressed some of the key queries and challenges faced by companies in the online delivery industry. </a:t>
            </a:r>
          </a:p>
          <a:p>
            <a:r>
              <a:rPr lang="en-US" dirty="0"/>
              <a:t>By analyzing customer data, I have been able to provide insights into customer behavior, such as the frequency of orders, popular food items, and the effectiveness of the gold membership program. With this information, companies can make data-driven decisions to improve their services and increase customer satisfaction.</a:t>
            </a:r>
          </a:p>
          <a:p>
            <a:r>
              <a:rPr lang="en-US" dirty="0"/>
              <a:t> My Case Study has also demonstrated the power and usefulness of SQL in handling large and complex datasets, allowing companies to extract meaningful insights from their data. Overall, my project has shown that leveraging data through SQL can be an effective tool for companies in the online delivery industry to stay competitive and provide better services to their customers.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FE032-47A4-3796-C705-DE7282046389}"/>
              </a:ext>
            </a:extLst>
          </p:cNvPr>
          <p:cNvSpPr>
            <a:spLocks noGrp="1"/>
          </p:cNvSpPr>
          <p:nvPr>
            <p:ph type="title"/>
          </p:nvPr>
        </p:nvSpPr>
        <p:spPr>
          <a:xfrm>
            <a:off x="982133" y="2286001"/>
            <a:ext cx="7704667" cy="1981200"/>
          </a:xfrm>
        </p:spPr>
        <p:txBody>
          <a:bodyPr>
            <a:normAutofit/>
          </a:bodyPr>
          <a:lstStyle/>
          <a:p>
            <a:r>
              <a:rPr lang="en-US" sz="4800" b="1" i="1" dirty="0"/>
              <a:t>THANK YOU</a:t>
            </a:r>
            <a:endParaRPr lang="en-IN" sz="4800" b="1" i="1" dirty="0"/>
          </a:p>
        </p:txBody>
      </p:sp>
    </p:spTree>
    <p:extLst>
      <p:ext uri="{BB962C8B-B14F-4D97-AF65-F5344CB8AC3E}">
        <p14:creationId xmlns:p14="http://schemas.microsoft.com/office/powerpoint/2010/main" val="24780208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Parallax</Template>
  <TotalTime>63</TotalTime>
  <Words>698</Words>
  <Application>Microsoft Office PowerPoint</Application>
  <PresentationFormat>On-screen Show (4:3)</PresentationFormat>
  <Paragraphs>67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Corbel</vt:lpstr>
      <vt:lpstr>Parallax</vt:lpstr>
      <vt:lpstr>Online Food Delivery - SQL Data Analysis Project</vt:lpstr>
      <vt:lpstr>Introduction</vt:lpstr>
      <vt:lpstr>Methodologies</vt:lpstr>
      <vt:lpstr>PowerPoint Presentation</vt:lpstr>
      <vt:lpstr>Key Findings</vt:lpstr>
      <vt:lpstr>PowerPoint Presentation</vt:lpstr>
      <vt:lpstr>Yearly Revenue Trend</vt:lpstr>
      <vt:lpstr>Top 3 Products by Revenue</vt:lpstr>
      <vt:lpstr>Actionable Recommendations</vt:lpstr>
      <vt:lpstr>PowerPoint Presentation</vt:lpstr>
      <vt:lpstr>Business Insights</vt:lpstr>
      <vt:lpstr>PowerPoint Presentation</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sanjyottekale2001@outlook.com</cp:lastModifiedBy>
  <cp:revision>5</cp:revision>
  <dcterms:created xsi:type="dcterms:W3CDTF">2013-01-27T09:14:16Z</dcterms:created>
  <dcterms:modified xsi:type="dcterms:W3CDTF">2026-02-22T07:52:31Z</dcterms:modified>
  <cp:category/>
</cp:coreProperties>
</file>